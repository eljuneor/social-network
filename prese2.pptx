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DDCA9-98D7-410E-BF50-29D0D682266F}" type="datetimeFigureOut">
              <a:rPr lang="es-MX" smtClean="0"/>
              <a:t>10/03/2026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8804-6FA3-4121-8596-14810ACC84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0776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DDCA9-98D7-410E-BF50-29D0D682266F}" type="datetimeFigureOut">
              <a:rPr lang="es-MX" smtClean="0"/>
              <a:t>10/03/2026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8804-6FA3-4121-8596-14810ACC84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1612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DDCA9-98D7-410E-BF50-29D0D682266F}" type="datetimeFigureOut">
              <a:rPr lang="es-MX" smtClean="0"/>
              <a:t>10/03/2026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8804-6FA3-4121-8596-14810ACC84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3424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DDCA9-98D7-410E-BF50-29D0D682266F}" type="datetimeFigureOut">
              <a:rPr lang="es-MX" smtClean="0"/>
              <a:t>10/03/2026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8804-6FA3-4121-8596-14810ACC84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3163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DDCA9-98D7-410E-BF50-29D0D682266F}" type="datetimeFigureOut">
              <a:rPr lang="es-MX" smtClean="0"/>
              <a:t>10/03/2026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8804-6FA3-4121-8596-14810ACC84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5911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DDCA9-98D7-410E-BF50-29D0D682266F}" type="datetimeFigureOut">
              <a:rPr lang="es-MX" smtClean="0"/>
              <a:t>10/03/2026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8804-6FA3-4121-8596-14810ACC84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4813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DDCA9-98D7-410E-BF50-29D0D682266F}" type="datetimeFigureOut">
              <a:rPr lang="es-MX" smtClean="0"/>
              <a:t>10/03/2026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8804-6FA3-4121-8596-14810ACC84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1634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DDCA9-98D7-410E-BF50-29D0D682266F}" type="datetimeFigureOut">
              <a:rPr lang="es-MX" smtClean="0"/>
              <a:t>10/03/2026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8804-6FA3-4121-8596-14810ACC84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6642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DDCA9-98D7-410E-BF50-29D0D682266F}" type="datetimeFigureOut">
              <a:rPr lang="es-MX" smtClean="0"/>
              <a:t>10/03/2026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8804-6FA3-4121-8596-14810ACC84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969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DDCA9-98D7-410E-BF50-29D0D682266F}" type="datetimeFigureOut">
              <a:rPr lang="es-MX" smtClean="0"/>
              <a:t>10/03/2026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8804-6FA3-4121-8596-14810ACC84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3962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DDCA9-98D7-410E-BF50-29D0D682266F}" type="datetimeFigureOut">
              <a:rPr lang="es-MX" smtClean="0"/>
              <a:t>10/03/2026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8804-6FA3-4121-8596-14810ACC84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3252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DDCA9-98D7-410E-BF50-29D0D682266F}" type="datetimeFigureOut">
              <a:rPr lang="es-MX" smtClean="0"/>
              <a:t>10/03/2026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B8804-6FA3-4121-8596-14810ACC84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359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-25404" y="-25401"/>
            <a:ext cx="1221740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6" name="CuadroTexto 5"/>
          <p:cNvSpPr txBox="1"/>
          <p:nvPr/>
        </p:nvSpPr>
        <p:spPr>
          <a:xfrm>
            <a:off x="1514762" y="2988101"/>
            <a:ext cx="9111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Corbel Light" panose="020B0303020204020204" pitchFamily="34" charset="0"/>
              </a:rPr>
              <a:t>Multimedia-Content-CMS</a:t>
            </a:r>
          </a:p>
        </p:txBody>
      </p:sp>
      <p:sp>
        <p:nvSpPr>
          <p:cNvPr id="7" name="Rectángulo 6"/>
          <p:cNvSpPr/>
          <p:nvPr/>
        </p:nvSpPr>
        <p:spPr>
          <a:xfrm>
            <a:off x="2736272" y="3844498"/>
            <a:ext cx="6668655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/>
          <p:cNvSpPr/>
          <p:nvPr/>
        </p:nvSpPr>
        <p:spPr>
          <a:xfrm>
            <a:off x="2736270" y="2942382"/>
            <a:ext cx="6668655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176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-25404" y="-25401"/>
            <a:ext cx="1221740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946362"/>
              </p:ext>
            </p:extLst>
          </p:nvPr>
        </p:nvGraphicFramePr>
        <p:xfrm>
          <a:off x="2277914" y="1351027"/>
          <a:ext cx="7610764" cy="445612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805382">
                  <a:extLst>
                    <a:ext uri="{9D8B030D-6E8A-4147-A177-3AD203B41FA5}">
                      <a16:colId xmlns:a16="http://schemas.microsoft.com/office/drawing/2014/main" val="3659407143"/>
                    </a:ext>
                  </a:extLst>
                </a:gridCol>
                <a:gridCol w="3805382">
                  <a:extLst>
                    <a:ext uri="{9D8B030D-6E8A-4147-A177-3AD203B41FA5}">
                      <a16:colId xmlns:a16="http://schemas.microsoft.com/office/drawing/2014/main" val="2301779004"/>
                    </a:ext>
                  </a:extLst>
                </a:gridCol>
              </a:tblGrid>
              <a:tr h="226044">
                <a:tc>
                  <a:txBody>
                    <a:bodyPr/>
                    <a:lstStyle/>
                    <a:p>
                      <a:r>
                        <a:rPr lang="es-MX" sz="1800" dirty="0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Rol</a:t>
                      </a:r>
                      <a:endParaRPr lang="es-MX" sz="1800" b="1" dirty="0">
                        <a:solidFill>
                          <a:schemeClr val="bg1"/>
                        </a:solidFill>
                        <a:effectLst/>
                        <a:latin typeface="Antipasto Pro " panose="02000506020000020004" pitchFamily="2" charset="0"/>
                      </a:endParaRPr>
                    </a:p>
                  </a:txBody>
                  <a:tcPr marL="61220" marR="61220" marT="28255" marB="28255" anchor="ctr"/>
                </a:tc>
                <a:tc>
                  <a:txBody>
                    <a:bodyPr/>
                    <a:lstStyle/>
                    <a:p>
                      <a:r>
                        <a:rPr lang="es-MX" sz="1800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Nombre técnico</a:t>
                      </a:r>
                      <a:endParaRPr lang="es-MX" sz="1800" b="1">
                        <a:solidFill>
                          <a:schemeClr val="bg1"/>
                        </a:solidFill>
                        <a:effectLst/>
                        <a:latin typeface="Antipasto Pro " panose="02000506020000020004" pitchFamily="2" charset="0"/>
                      </a:endParaRPr>
                    </a:p>
                  </a:txBody>
                  <a:tcPr marL="61220" marR="61220" marT="28255" marB="28255" anchor="ctr"/>
                </a:tc>
                <a:extLst>
                  <a:ext uri="{0D108BD9-81ED-4DB2-BD59-A6C34878D82A}">
                    <a16:rowId xmlns:a16="http://schemas.microsoft.com/office/drawing/2014/main" val="2657841536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r>
                        <a:rPr lang="es-MX" sz="1800" dirty="0">
                          <a:solidFill>
                            <a:schemeClr val="bg1"/>
                          </a:solidFill>
                          <a:effectLst/>
                          <a:latin typeface="Agency FB" panose="020B0503020202020204" pitchFamily="34" charset="0"/>
                        </a:rPr>
                        <a:t>1</a:t>
                      </a:r>
                    </a:p>
                  </a:txBody>
                  <a:tcPr marL="61220" marR="61220" marT="28255" marB="28255" anchor="ctr"/>
                </a:tc>
                <a:tc>
                  <a:txBody>
                    <a:bodyPr/>
                    <a:lstStyle/>
                    <a:p>
                      <a:r>
                        <a:rPr lang="it-IT" sz="1800" dirty="0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The Data Modeler. López Tecalco Vania</a:t>
                      </a:r>
                    </a:p>
                  </a:txBody>
                  <a:tcPr marL="61220" marR="61220" marT="28255" marB="28255" anchor="ctr"/>
                </a:tc>
                <a:extLst>
                  <a:ext uri="{0D108BD9-81ED-4DB2-BD59-A6C34878D82A}">
                    <a16:rowId xmlns:a16="http://schemas.microsoft.com/office/drawing/2014/main" val="3177164545"/>
                  </a:ext>
                </a:extLst>
              </a:tr>
              <a:tr h="1073707">
                <a:tc>
                  <a:txBody>
                    <a:bodyPr/>
                    <a:lstStyle/>
                    <a:p>
                      <a:r>
                        <a:rPr lang="es-MX" sz="1800" dirty="0">
                          <a:solidFill>
                            <a:schemeClr val="bg1"/>
                          </a:solidFill>
                          <a:effectLst/>
                          <a:latin typeface="Agency FB" panose="020B0503020202020204" pitchFamily="34" charset="0"/>
                        </a:rPr>
                        <a:t>2</a:t>
                      </a:r>
                    </a:p>
                  </a:txBody>
                  <a:tcPr marL="61220" marR="61220" marT="28255" marB="28255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The Query Developer. 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Arzabal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 Flores Adolfo</a:t>
                      </a:r>
                    </a:p>
                  </a:txBody>
                  <a:tcPr marL="61220" marR="61220" marT="28255" marB="28255" anchor="ctr"/>
                </a:tc>
                <a:extLst>
                  <a:ext uri="{0D108BD9-81ED-4DB2-BD59-A6C34878D82A}">
                    <a16:rowId xmlns:a16="http://schemas.microsoft.com/office/drawing/2014/main" val="3101819976"/>
                  </a:ext>
                </a:extLst>
              </a:tr>
              <a:tr h="1073707">
                <a:tc>
                  <a:txBody>
                    <a:bodyPr/>
                    <a:lstStyle/>
                    <a:p>
                      <a:r>
                        <a:rPr lang="es-MX" sz="1800" dirty="0">
                          <a:solidFill>
                            <a:schemeClr val="bg1"/>
                          </a:solidFill>
                          <a:effectLst/>
                          <a:latin typeface="Agency FB" panose="020B0503020202020204" pitchFamily="34" charset="0"/>
                        </a:rPr>
                        <a:t>3</a:t>
                      </a:r>
                    </a:p>
                  </a:txBody>
                  <a:tcPr marL="61220" marR="61220" marT="28255" marB="28255" anchor="ctr"/>
                </a:tc>
                <a:tc>
                  <a:txBody>
                    <a:bodyPr/>
                    <a:lstStyle/>
                    <a:p>
                      <a:r>
                        <a:rPr lang="es-MX" sz="1800" dirty="0" err="1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The</a:t>
                      </a:r>
                      <a:r>
                        <a:rPr lang="es-MX" sz="1800" dirty="0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 </a:t>
                      </a:r>
                      <a:r>
                        <a:rPr lang="es-MX" sz="1800" dirty="0" err="1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Integration</a:t>
                      </a:r>
                      <a:r>
                        <a:rPr lang="es-MX" sz="1800" dirty="0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 </a:t>
                      </a:r>
                      <a:r>
                        <a:rPr lang="es-MX" sz="1800" dirty="0" err="1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Specialist</a:t>
                      </a:r>
                      <a:r>
                        <a:rPr lang="es-MX" sz="1800" dirty="0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. Olivares Luengas Tadeo de Jesús</a:t>
                      </a:r>
                    </a:p>
                  </a:txBody>
                  <a:tcPr marL="61220" marR="61220" marT="28255" marB="28255" anchor="ctr"/>
                </a:tc>
                <a:extLst>
                  <a:ext uri="{0D108BD9-81ED-4DB2-BD59-A6C34878D82A}">
                    <a16:rowId xmlns:a16="http://schemas.microsoft.com/office/drawing/2014/main" val="568673776"/>
                  </a:ext>
                </a:extLst>
              </a:tr>
              <a:tr h="1073707">
                <a:tc>
                  <a:txBody>
                    <a:bodyPr/>
                    <a:lstStyle/>
                    <a:p>
                      <a:r>
                        <a:rPr lang="es-MX" sz="1800" dirty="0">
                          <a:solidFill>
                            <a:schemeClr val="bg1"/>
                          </a:solidFill>
                          <a:effectLst/>
                          <a:latin typeface="Agency FB" panose="020B0503020202020204" pitchFamily="34" charset="0"/>
                        </a:rPr>
                        <a:t>4</a:t>
                      </a:r>
                    </a:p>
                  </a:txBody>
                  <a:tcPr marL="61220" marR="61220" marT="28255" marB="28255" anchor="ctr"/>
                </a:tc>
                <a:tc>
                  <a:txBody>
                    <a:bodyPr/>
                    <a:lstStyle/>
                    <a:p>
                      <a:r>
                        <a:rPr lang="es-MX" sz="1800" dirty="0" err="1" smtClean="0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The</a:t>
                      </a:r>
                      <a:r>
                        <a:rPr lang="es-MX" sz="1800" dirty="0" smtClean="0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 Data </a:t>
                      </a:r>
                      <a:r>
                        <a:rPr lang="es-MX" sz="1800" dirty="0" err="1" smtClean="0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Seeder</a:t>
                      </a:r>
                      <a:r>
                        <a:rPr lang="es-MX" sz="1800" dirty="0" smtClean="0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/ QA. </a:t>
                      </a:r>
                      <a:r>
                        <a:rPr lang="es-MX" sz="1800" dirty="0" err="1" smtClean="0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Damian</a:t>
                      </a:r>
                      <a:r>
                        <a:rPr lang="es-MX" sz="1800" dirty="0" smtClean="0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 </a:t>
                      </a:r>
                      <a:r>
                        <a:rPr lang="es-MX" sz="1800" dirty="0" err="1" smtClean="0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Tepole</a:t>
                      </a:r>
                      <a:r>
                        <a:rPr lang="es-MX" sz="1800" dirty="0" smtClean="0">
                          <a:solidFill>
                            <a:schemeClr val="bg1"/>
                          </a:solidFill>
                          <a:effectLst/>
                          <a:latin typeface="Antipasto Pro " panose="02000506020000020004" pitchFamily="2" charset="0"/>
                        </a:rPr>
                        <a:t> Casimiro</a:t>
                      </a:r>
                      <a:endParaRPr lang="es-MX" sz="1800" dirty="0">
                        <a:solidFill>
                          <a:schemeClr val="bg1"/>
                        </a:solidFill>
                        <a:effectLst/>
                        <a:latin typeface="Antipasto Pro " panose="02000506020000020004" pitchFamily="2" charset="0"/>
                      </a:endParaRPr>
                    </a:p>
                  </a:txBody>
                  <a:tcPr marL="61220" marR="61220" marT="28255" marB="28255" anchor="ctr"/>
                </a:tc>
                <a:extLst>
                  <a:ext uri="{0D108BD9-81ED-4DB2-BD59-A6C34878D82A}">
                    <a16:rowId xmlns:a16="http://schemas.microsoft.com/office/drawing/2014/main" val="2822416535"/>
                  </a:ext>
                </a:extLst>
              </a:tr>
            </a:tbl>
          </a:graphicData>
        </a:graphic>
      </p:graphicFrame>
      <p:sp>
        <p:nvSpPr>
          <p:cNvPr id="5" name="CuadroTexto 4"/>
          <p:cNvSpPr txBox="1"/>
          <p:nvPr/>
        </p:nvSpPr>
        <p:spPr>
          <a:xfrm>
            <a:off x="1527459" y="378931"/>
            <a:ext cx="9111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 smtClean="0">
                <a:solidFill>
                  <a:schemeClr val="bg1"/>
                </a:solidFill>
                <a:latin typeface="Corbel Light" panose="020B0303020204020204" pitchFamily="34" charset="0"/>
              </a:rPr>
              <a:t>Equipo de Desarrollo</a:t>
            </a:r>
            <a:endParaRPr lang="es-MX" sz="4800" b="1" dirty="0">
              <a:solidFill>
                <a:schemeClr val="bg1"/>
              </a:solidFill>
              <a:latin typeface="Corbel Light" panose="020B03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743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-25404" y="-25401"/>
            <a:ext cx="1221740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" name="CuadroTexto 2"/>
          <p:cNvSpPr txBox="1"/>
          <p:nvPr/>
        </p:nvSpPr>
        <p:spPr>
          <a:xfrm>
            <a:off x="1527460" y="526713"/>
            <a:ext cx="9111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 smtClean="0">
                <a:solidFill>
                  <a:schemeClr val="bg1"/>
                </a:solidFill>
                <a:latin typeface="Corbel Light" panose="020B0303020204020204" pitchFamily="34" charset="0"/>
              </a:rPr>
              <a:t>Repositorio de trabajo</a:t>
            </a:r>
            <a:endParaRPr lang="es-MX" sz="4800" b="1" dirty="0">
              <a:solidFill>
                <a:schemeClr val="bg1"/>
              </a:solidFill>
              <a:latin typeface="Corbel Light" panose="020B0303020204020204" pitchFamily="34" charset="0"/>
            </a:endParaRPr>
          </a:p>
        </p:txBody>
      </p:sp>
      <p:pic>
        <p:nvPicPr>
          <p:cNvPr id="2052" name="Picture 4" descr="What About GitHub Desktop?. “GitHub Desktop” is an application that… | by  Adam Reed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40" y="1594461"/>
            <a:ext cx="3554094" cy="3862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6642096" y="3260634"/>
            <a:ext cx="3241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Antipasto Pro " panose="02000506020000020004" pitchFamily="2" charset="0"/>
              </a:rPr>
              <a:t>Responsable: </a:t>
            </a:r>
          </a:p>
          <a:p>
            <a:endParaRPr lang="es-MX" dirty="0" smtClean="0">
              <a:solidFill>
                <a:schemeClr val="bg1"/>
              </a:solidFill>
              <a:latin typeface="Antipasto Pro " panose="02000506020000020004" pitchFamily="2" charset="0"/>
            </a:endParaRPr>
          </a:p>
          <a:p>
            <a:r>
              <a:rPr lang="es-MX" dirty="0" err="1" smtClean="0">
                <a:solidFill>
                  <a:schemeClr val="bg1"/>
                </a:solidFill>
                <a:latin typeface="Antipasto Pro " panose="02000506020000020004" pitchFamily="2" charset="0"/>
              </a:rPr>
              <a:t>The</a:t>
            </a:r>
            <a:r>
              <a:rPr lang="es-MX" dirty="0" smtClean="0">
                <a:solidFill>
                  <a:schemeClr val="bg1"/>
                </a:solidFill>
                <a:latin typeface="Antipasto Pro " panose="02000506020000020004" pitchFamily="2" charset="0"/>
              </a:rPr>
              <a:t> </a:t>
            </a:r>
            <a:r>
              <a:rPr lang="es-MX" dirty="0" err="1">
                <a:solidFill>
                  <a:schemeClr val="bg1"/>
                </a:solidFill>
                <a:latin typeface="Antipasto Pro " panose="02000506020000020004" pitchFamily="2" charset="0"/>
              </a:rPr>
              <a:t>Integration</a:t>
            </a:r>
            <a:r>
              <a:rPr lang="es-MX" dirty="0">
                <a:solidFill>
                  <a:schemeClr val="bg1"/>
                </a:solidFill>
                <a:latin typeface="Antipasto Pro " panose="02000506020000020004" pitchFamily="2" charset="0"/>
              </a:rPr>
              <a:t> </a:t>
            </a:r>
            <a:r>
              <a:rPr lang="es-MX" dirty="0" err="1">
                <a:solidFill>
                  <a:schemeClr val="bg1"/>
                </a:solidFill>
                <a:latin typeface="Antipasto Pro " panose="02000506020000020004" pitchFamily="2" charset="0"/>
              </a:rPr>
              <a:t>Specialist</a:t>
            </a:r>
            <a:r>
              <a:rPr lang="es-MX" dirty="0">
                <a:solidFill>
                  <a:schemeClr val="bg1"/>
                </a:solidFill>
                <a:latin typeface="Antipasto Pro " panose="02000506020000020004" pitchFamily="2" charset="0"/>
              </a:rPr>
              <a:t>. Olivares Luengas Tadeo de </a:t>
            </a:r>
            <a:r>
              <a:rPr lang="es-MX" dirty="0" smtClean="0">
                <a:solidFill>
                  <a:schemeClr val="bg1"/>
                </a:solidFill>
                <a:latin typeface="Antipasto Pro " panose="02000506020000020004" pitchFamily="2" charset="0"/>
              </a:rPr>
              <a:t>Jesús</a:t>
            </a:r>
            <a:endParaRPr lang="es-MX" dirty="0">
              <a:solidFill>
                <a:schemeClr val="bg1"/>
              </a:solidFill>
              <a:latin typeface="Antipasto Pro " panose="02000506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732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-25404" y="-25401"/>
            <a:ext cx="1221740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527460" y="526713"/>
            <a:ext cx="9111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 smtClean="0">
                <a:solidFill>
                  <a:schemeClr val="bg1"/>
                </a:solidFill>
                <a:latin typeface="Corbel Light" panose="020B0303020204020204" pitchFamily="34" charset="0"/>
              </a:rPr>
              <a:t>Diagrama </a:t>
            </a:r>
            <a:r>
              <a:rPr lang="es-MX" sz="4800" b="1" dirty="0" err="1" smtClean="0">
                <a:solidFill>
                  <a:schemeClr val="bg1"/>
                </a:solidFill>
                <a:latin typeface="Corbel Light" panose="020B0303020204020204" pitchFamily="34" charset="0"/>
              </a:rPr>
              <a:t>Mermaid</a:t>
            </a:r>
            <a:endParaRPr lang="es-MX" sz="4800" b="1" dirty="0">
              <a:solidFill>
                <a:schemeClr val="bg1"/>
              </a:solidFill>
              <a:latin typeface="Corbel Light" panose="020B0303020204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648" y="1658425"/>
            <a:ext cx="4892464" cy="449619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196336" y="3306355"/>
            <a:ext cx="3241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>
                <a:solidFill>
                  <a:schemeClr val="bg1"/>
                </a:solidFill>
                <a:latin typeface="Antipasto Pro " panose="02000506020000020004" pitchFamily="2" charset="0"/>
              </a:rPr>
              <a:t>Responsable:</a:t>
            </a:r>
          </a:p>
          <a:p>
            <a:endParaRPr lang="it-IT" dirty="0" smtClean="0">
              <a:solidFill>
                <a:schemeClr val="bg1"/>
              </a:solidFill>
              <a:latin typeface="Antipasto Pro " panose="02000506020000020004" pitchFamily="2" charset="0"/>
            </a:endParaRPr>
          </a:p>
          <a:p>
            <a:r>
              <a:rPr lang="it-IT" dirty="0" smtClean="0">
                <a:solidFill>
                  <a:schemeClr val="bg1"/>
                </a:solidFill>
                <a:latin typeface="Antipasto Pro " panose="02000506020000020004" pitchFamily="2" charset="0"/>
              </a:rPr>
              <a:t>The </a:t>
            </a:r>
            <a:r>
              <a:rPr lang="it-IT" dirty="0">
                <a:solidFill>
                  <a:schemeClr val="bg1"/>
                </a:solidFill>
                <a:latin typeface="Antipasto Pro " panose="02000506020000020004" pitchFamily="2" charset="0"/>
              </a:rPr>
              <a:t>Data </a:t>
            </a:r>
            <a:r>
              <a:rPr lang="it-IT" dirty="0" smtClean="0">
                <a:solidFill>
                  <a:schemeClr val="bg1"/>
                </a:solidFill>
                <a:latin typeface="Antipasto Pro " panose="02000506020000020004" pitchFamily="2" charset="0"/>
              </a:rPr>
              <a:t>Modeler.</a:t>
            </a:r>
          </a:p>
          <a:p>
            <a:r>
              <a:rPr lang="it-IT" dirty="0" smtClean="0">
                <a:solidFill>
                  <a:schemeClr val="bg1"/>
                </a:solidFill>
                <a:latin typeface="Antipasto Pro " panose="02000506020000020004" pitchFamily="2" charset="0"/>
              </a:rPr>
              <a:t>López </a:t>
            </a:r>
            <a:r>
              <a:rPr lang="it-IT" dirty="0">
                <a:solidFill>
                  <a:schemeClr val="bg1"/>
                </a:solidFill>
                <a:latin typeface="Antipasto Pro " panose="02000506020000020004" pitchFamily="2" charset="0"/>
              </a:rPr>
              <a:t>Tecalco Vania</a:t>
            </a:r>
          </a:p>
        </p:txBody>
      </p:sp>
    </p:spTree>
    <p:extLst>
      <p:ext uri="{BB962C8B-B14F-4D97-AF65-F5344CB8AC3E}">
        <p14:creationId xmlns:p14="http://schemas.microsoft.com/office/powerpoint/2010/main" val="1854148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-25404" y="-25401"/>
            <a:ext cx="1221740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527460" y="526713"/>
            <a:ext cx="9111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 err="1" smtClean="0">
                <a:solidFill>
                  <a:schemeClr val="bg1"/>
                </a:solidFill>
                <a:latin typeface="Corbel Light" panose="020B0303020204020204" pitchFamily="34" charset="0"/>
              </a:rPr>
              <a:t>MongoDB</a:t>
            </a:r>
            <a:r>
              <a:rPr lang="es-MX" sz="4800" b="1" dirty="0" smtClean="0">
                <a:solidFill>
                  <a:schemeClr val="bg1"/>
                </a:solidFill>
                <a:latin typeface="Corbel Light" panose="020B0303020204020204" pitchFamily="34" charset="0"/>
              </a:rPr>
              <a:t>-Conexión</a:t>
            </a:r>
            <a:endParaRPr lang="es-MX" sz="4800" b="1" dirty="0">
              <a:solidFill>
                <a:schemeClr val="bg1"/>
              </a:solidFill>
              <a:latin typeface="Corbel Light" panose="020B0303020204020204" pitchFamily="34" charset="0"/>
            </a:endParaRPr>
          </a:p>
        </p:txBody>
      </p:sp>
      <p:pic>
        <p:nvPicPr>
          <p:cNvPr id="4098" name="Picture 2" descr="Monitoreo y gestión del desempeño de MongoDB | I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58" y="1357709"/>
            <a:ext cx="6052185" cy="4565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/>
          <p:cNvSpPr txBox="1"/>
          <p:nvPr/>
        </p:nvSpPr>
        <p:spPr>
          <a:xfrm>
            <a:off x="6925944" y="3040284"/>
            <a:ext cx="3241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Antipasto Pro " panose="02000506020000020004" pitchFamily="2" charset="0"/>
              </a:rPr>
              <a:t>Responsable: </a:t>
            </a:r>
          </a:p>
          <a:p>
            <a:endParaRPr lang="es-MX" dirty="0" smtClean="0">
              <a:solidFill>
                <a:schemeClr val="bg1"/>
              </a:solidFill>
              <a:latin typeface="Antipasto Pro " panose="02000506020000020004" pitchFamily="2" charset="0"/>
            </a:endParaRPr>
          </a:p>
          <a:p>
            <a:r>
              <a:rPr lang="es-MX" dirty="0" err="1" smtClean="0">
                <a:solidFill>
                  <a:schemeClr val="bg1"/>
                </a:solidFill>
                <a:latin typeface="Antipasto Pro " panose="02000506020000020004" pitchFamily="2" charset="0"/>
              </a:rPr>
              <a:t>The</a:t>
            </a:r>
            <a:r>
              <a:rPr lang="es-MX" dirty="0" smtClean="0">
                <a:solidFill>
                  <a:schemeClr val="bg1"/>
                </a:solidFill>
                <a:latin typeface="Antipasto Pro " panose="02000506020000020004" pitchFamily="2" charset="0"/>
              </a:rPr>
              <a:t> </a:t>
            </a:r>
            <a:r>
              <a:rPr lang="es-MX" dirty="0" err="1">
                <a:solidFill>
                  <a:schemeClr val="bg1"/>
                </a:solidFill>
                <a:latin typeface="Antipasto Pro " panose="02000506020000020004" pitchFamily="2" charset="0"/>
              </a:rPr>
              <a:t>Integration</a:t>
            </a:r>
            <a:r>
              <a:rPr lang="es-MX" dirty="0">
                <a:solidFill>
                  <a:schemeClr val="bg1"/>
                </a:solidFill>
                <a:latin typeface="Antipasto Pro " panose="02000506020000020004" pitchFamily="2" charset="0"/>
              </a:rPr>
              <a:t> </a:t>
            </a:r>
            <a:r>
              <a:rPr lang="es-MX" dirty="0" err="1">
                <a:solidFill>
                  <a:schemeClr val="bg1"/>
                </a:solidFill>
                <a:latin typeface="Antipasto Pro " panose="02000506020000020004" pitchFamily="2" charset="0"/>
              </a:rPr>
              <a:t>Specialist</a:t>
            </a:r>
            <a:r>
              <a:rPr lang="es-MX" dirty="0">
                <a:solidFill>
                  <a:schemeClr val="bg1"/>
                </a:solidFill>
                <a:latin typeface="Antipasto Pro " panose="02000506020000020004" pitchFamily="2" charset="0"/>
              </a:rPr>
              <a:t>. Olivares Luengas Tadeo de </a:t>
            </a:r>
            <a:r>
              <a:rPr lang="es-MX" dirty="0" smtClean="0">
                <a:solidFill>
                  <a:schemeClr val="bg1"/>
                </a:solidFill>
                <a:latin typeface="Antipasto Pro " panose="02000506020000020004" pitchFamily="2" charset="0"/>
              </a:rPr>
              <a:t>Jesús</a:t>
            </a:r>
            <a:endParaRPr lang="es-MX" dirty="0">
              <a:solidFill>
                <a:schemeClr val="bg1"/>
              </a:solidFill>
              <a:latin typeface="Antipasto Pro " panose="02000506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901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-25404" y="-25401"/>
            <a:ext cx="1221740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527460" y="526713"/>
            <a:ext cx="9111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 smtClean="0">
                <a:solidFill>
                  <a:schemeClr val="bg1"/>
                </a:solidFill>
                <a:latin typeface="Corbel Light" panose="020B0303020204020204" pitchFamily="34" charset="0"/>
              </a:rPr>
              <a:t>Creación del sistema</a:t>
            </a:r>
            <a:endParaRPr lang="es-MX" sz="4800" b="1" dirty="0">
              <a:solidFill>
                <a:schemeClr val="bg1"/>
              </a:solidFill>
              <a:latin typeface="Corbel Light" panose="020B0303020204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784984" y="3040285"/>
            <a:ext cx="3241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Antipasto Pro " panose="02000506020000020004" pitchFamily="2" charset="0"/>
              </a:rPr>
              <a:t>Responsable: </a:t>
            </a:r>
          </a:p>
          <a:p>
            <a:endParaRPr lang="es-MX" dirty="0" smtClean="0">
              <a:solidFill>
                <a:schemeClr val="bg1"/>
              </a:solidFill>
              <a:latin typeface="Antipasto Pro " panose="02000506020000020004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ntipasto Pro " panose="02000506020000020004" pitchFamily="2" charset="0"/>
              </a:rPr>
              <a:t>The Query Developer. </a:t>
            </a:r>
            <a:endParaRPr lang="en-US" dirty="0" smtClean="0">
              <a:solidFill>
                <a:schemeClr val="bg1"/>
              </a:solidFill>
              <a:latin typeface="Antipasto Pro " panose="02000506020000020004" pitchFamily="2" charset="0"/>
            </a:endParaRPr>
          </a:p>
          <a:p>
            <a:r>
              <a:rPr lang="en-US" dirty="0" err="1" smtClean="0">
                <a:solidFill>
                  <a:schemeClr val="bg1"/>
                </a:solidFill>
                <a:latin typeface="Antipasto Pro " panose="02000506020000020004" pitchFamily="2" charset="0"/>
              </a:rPr>
              <a:t>Arzabal</a:t>
            </a:r>
            <a:r>
              <a:rPr lang="en-US" dirty="0" smtClean="0">
                <a:solidFill>
                  <a:schemeClr val="bg1"/>
                </a:solidFill>
                <a:latin typeface="Antipasto Pro " panose="02000506020000020004" pitchFamily="2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Antipasto Pro " panose="02000506020000020004" pitchFamily="2" charset="0"/>
              </a:rPr>
              <a:t>Flores Adolfo</a:t>
            </a:r>
          </a:p>
        </p:txBody>
      </p:sp>
      <p:sp>
        <p:nvSpPr>
          <p:cNvPr id="7" name="Rectángulo redondeado 6"/>
          <p:cNvSpPr/>
          <p:nvPr/>
        </p:nvSpPr>
        <p:spPr>
          <a:xfrm>
            <a:off x="7006389" y="1671745"/>
            <a:ext cx="3974695" cy="4460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7" descr="Icono de Pruebas Super Basic Straight Outline |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668" y="1955969"/>
            <a:ext cx="3831417" cy="383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397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-25404" y="-25401"/>
            <a:ext cx="1221740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" name="CuadroTexto 2"/>
          <p:cNvSpPr txBox="1"/>
          <p:nvPr/>
        </p:nvSpPr>
        <p:spPr>
          <a:xfrm>
            <a:off x="1527460" y="526713"/>
            <a:ext cx="9111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 smtClean="0">
                <a:solidFill>
                  <a:schemeClr val="bg1"/>
                </a:solidFill>
                <a:latin typeface="Corbel Light" panose="020B0303020204020204" pitchFamily="34" charset="0"/>
              </a:rPr>
              <a:t>Datos de prueba</a:t>
            </a:r>
            <a:endParaRPr lang="es-MX" sz="4800" b="1" dirty="0">
              <a:solidFill>
                <a:schemeClr val="bg1"/>
              </a:solidFill>
              <a:latin typeface="Corbel Light" panose="020B0303020204020204" pitchFamily="34" charset="0"/>
            </a:endParaRPr>
          </a:p>
        </p:txBody>
      </p:sp>
      <p:pic>
        <p:nvPicPr>
          <p:cNvPr id="6149" name="Picture 5" descr="Icono de Pruebas Super Basic Straight Outline |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655" y="3148013"/>
            <a:ext cx="3014345" cy="3014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/>
          <p:cNvSpPr txBox="1"/>
          <p:nvPr/>
        </p:nvSpPr>
        <p:spPr>
          <a:xfrm>
            <a:off x="6925944" y="3040284"/>
            <a:ext cx="3241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Antipasto Pro " panose="02000506020000020004" pitchFamily="2" charset="0"/>
              </a:rPr>
              <a:t>Responsable: </a:t>
            </a:r>
          </a:p>
          <a:p>
            <a:endParaRPr lang="es-MX" dirty="0" smtClean="0">
              <a:solidFill>
                <a:schemeClr val="bg1"/>
              </a:solidFill>
              <a:latin typeface="Antipasto Pro " panose="02000506020000020004" pitchFamily="2" charset="0"/>
            </a:endParaRPr>
          </a:p>
          <a:p>
            <a:r>
              <a:rPr lang="es-MX" dirty="0" err="1">
                <a:solidFill>
                  <a:schemeClr val="bg1"/>
                </a:solidFill>
                <a:latin typeface="Antipasto Pro " panose="02000506020000020004" pitchFamily="2" charset="0"/>
              </a:rPr>
              <a:t>The</a:t>
            </a:r>
            <a:r>
              <a:rPr lang="es-MX" dirty="0">
                <a:solidFill>
                  <a:schemeClr val="bg1"/>
                </a:solidFill>
                <a:latin typeface="Antipasto Pro " panose="02000506020000020004" pitchFamily="2" charset="0"/>
              </a:rPr>
              <a:t> Data </a:t>
            </a:r>
            <a:r>
              <a:rPr lang="es-MX" dirty="0" err="1">
                <a:solidFill>
                  <a:schemeClr val="bg1"/>
                </a:solidFill>
                <a:latin typeface="Antipasto Pro " panose="02000506020000020004" pitchFamily="2" charset="0"/>
              </a:rPr>
              <a:t>Seeder</a:t>
            </a:r>
            <a:r>
              <a:rPr lang="es-MX" dirty="0">
                <a:solidFill>
                  <a:schemeClr val="bg1"/>
                </a:solidFill>
                <a:latin typeface="Antipasto Pro " panose="02000506020000020004" pitchFamily="2" charset="0"/>
              </a:rPr>
              <a:t>/ QA. </a:t>
            </a:r>
            <a:endParaRPr lang="es-MX" dirty="0" smtClean="0">
              <a:solidFill>
                <a:schemeClr val="bg1"/>
              </a:solidFill>
              <a:latin typeface="Antipasto Pro " panose="02000506020000020004" pitchFamily="2" charset="0"/>
            </a:endParaRPr>
          </a:p>
          <a:p>
            <a:r>
              <a:rPr lang="es-MX" dirty="0" err="1" smtClean="0">
                <a:solidFill>
                  <a:schemeClr val="bg1"/>
                </a:solidFill>
                <a:latin typeface="Antipasto Pro " panose="02000506020000020004" pitchFamily="2" charset="0"/>
              </a:rPr>
              <a:t>Damian</a:t>
            </a:r>
            <a:r>
              <a:rPr lang="es-MX" dirty="0" smtClean="0">
                <a:solidFill>
                  <a:schemeClr val="bg1"/>
                </a:solidFill>
                <a:latin typeface="Antipasto Pro " panose="02000506020000020004" pitchFamily="2" charset="0"/>
              </a:rPr>
              <a:t> </a:t>
            </a:r>
            <a:r>
              <a:rPr lang="es-MX" dirty="0" err="1">
                <a:solidFill>
                  <a:schemeClr val="bg1"/>
                </a:solidFill>
                <a:latin typeface="Antipasto Pro " panose="02000506020000020004" pitchFamily="2" charset="0"/>
              </a:rPr>
              <a:t>Tepole</a:t>
            </a:r>
            <a:r>
              <a:rPr lang="es-MX" dirty="0">
                <a:solidFill>
                  <a:schemeClr val="bg1"/>
                </a:solidFill>
                <a:latin typeface="Antipasto Pro " panose="02000506020000020004" pitchFamily="2" charset="0"/>
              </a:rPr>
              <a:t> Casimiro</a:t>
            </a:r>
          </a:p>
        </p:txBody>
      </p:sp>
      <p:pic>
        <p:nvPicPr>
          <p:cNvPr id="8" name="Picture 6" descr="Perfil profesional del personal de los Archivos - Bibliopos: Biblioteca de  recursos para Bibliotecarios y Opositor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41" y="2176184"/>
            <a:ext cx="4757777" cy="3837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1043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-25404" y="-25401"/>
            <a:ext cx="1221740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" name="CuadroTexto 2"/>
          <p:cNvSpPr txBox="1"/>
          <p:nvPr/>
        </p:nvSpPr>
        <p:spPr>
          <a:xfrm>
            <a:off x="1527460" y="526713"/>
            <a:ext cx="9111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 smtClean="0">
                <a:solidFill>
                  <a:schemeClr val="bg1"/>
                </a:solidFill>
                <a:latin typeface="Corbel Light" panose="020B0303020204020204" pitchFamily="34" charset="0"/>
              </a:rPr>
              <a:t>Asistencia de IA</a:t>
            </a:r>
            <a:endParaRPr lang="es-MX" sz="4800" b="1" dirty="0">
              <a:solidFill>
                <a:schemeClr val="bg1"/>
              </a:solidFill>
              <a:latin typeface="Corbel Light" panose="020B0303020204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18" b="27273"/>
          <a:stretch/>
        </p:blipFill>
        <p:spPr>
          <a:xfrm>
            <a:off x="8481060" y="2078181"/>
            <a:ext cx="3154680" cy="349134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2" b="13266"/>
          <a:stretch/>
        </p:blipFill>
        <p:spPr>
          <a:xfrm>
            <a:off x="5891183" y="2031999"/>
            <a:ext cx="2201467" cy="358370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95" b="15151"/>
          <a:stretch/>
        </p:blipFill>
        <p:spPr>
          <a:xfrm>
            <a:off x="3204655" y="2031999"/>
            <a:ext cx="2252501" cy="3528292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50" b="15286"/>
          <a:stretch/>
        </p:blipFill>
        <p:spPr>
          <a:xfrm>
            <a:off x="681497" y="2031999"/>
            <a:ext cx="2220673" cy="256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211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-25404" y="-25401"/>
            <a:ext cx="1221740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" name="CuadroTexto 2"/>
          <p:cNvSpPr txBox="1"/>
          <p:nvPr/>
        </p:nvSpPr>
        <p:spPr>
          <a:xfrm>
            <a:off x="1527460" y="526713"/>
            <a:ext cx="9111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 smtClean="0">
                <a:solidFill>
                  <a:schemeClr val="bg1"/>
                </a:solidFill>
                <a:latin typeface="Corbel Light" panose="020B0303020204020204" pitchFamily="34" charset="0"/>
              </a:rPr>
              <a:t>Asistencia de IA</a:t>
            </a:r>
            <a:endParaRPr lang="es-MX" sz="4800" b="1" dirty="0">
              <a:solidFill>
                <a:schemeClr val="bg1"/>
              </a:solidFill>
              <a:latin typeface="Corbel Light" panose="020B0303020204020204" pitchFamily="34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35" b="14748"/>
          <a:stretch/>
        </p:blipFill>
        <p:spPr>
          <a:xfrm>
            <a:off x="221096" y="1637040"/>
            <a:ext cx="2374323" cy="3958093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3" b="37239"/>
          <a:stretch/>
        </p:blipFill>
        <p:spPr>
          <a:xfrm>
            <a:off x="2796307" y="1637040"/>
            <a:ext cx="3086100" cy="3685309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66" b="16364"/>
          <a:stretch/>
        </p:blipFill>
        <p:spPr>
          <a:xfrm>
            <a:off x="8867703" y="1623842"/>
            <a:ext cx="3086100" cy="4942625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30" b="29563"/>
          <a:stretch/>
        </p:blipFill>
        <p:spPr>
          <a:xfrm>
            <a:off x="6083295" y="1637040"/>
            <a:ext cx="2546212" cy="362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83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-25404" y="-25401"/>
            <a:ext cx="1221740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" name="CuadroTexto 2"/>
          <p:cNvSpPr txBox="1"/>
          <p:nvPr/>
        </p:nvSpPr>
        <p:spPr>
          <a:xfrm>
            <a:off x="1527460" y="526713"/>
            <a:ext cx="9111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 smtClean="0">
                <a:solidFill>
                  <a:schemeClr val="bg1"/>
                </a:solidFill>
                <a:latin typeface="Corbel Light" panose="020B0303020204020204" pitchFamily="34" charset="0"/>
              </a:rPr>
              <a:t>Asistencia de IA</a:t>
            </a:r>
            <a:endParaRPr lang="es-MX" sz="4800" b="1" dirty="0">
              <a:solidFill>
                <a:schemeClr val="bg1"/>
              </a:solidFill>
              <a:latin typeface="Corbel Light" panose="020B0303020204020204" pitchFamily="34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35" b="14748"/>
          <a:stretch/>
        </p:blipFill>
        <p:spPr>
          <a:xfrm>
            <a:off x="221096" y="1637040"/>
            <a:ext cx="2374323" cy="3958093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3" b="37239"/>
          <a:stretch/>
        </p:blipFill>
        <p:spPr>
          <a:xfrm>
            <a:off x="2796307" y="1637040"/>
            <a:ext cx="3086100" cy="3685309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66" b="16364"/>
          <a:stretch/>
        </p:blipFill>
        <p:spPr>
          <a:xfrm>
            <a:off x="8867703" y="1623842"/>
            <a:ext cx="3086100" cy="4942625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30" b="29563"/>
          <a:stretch/>
        </p:blipFill>
        <p:spPr>
          <a:xfrm>
            <a:off x="6083295" y="1637040"/>
            <a:ext cx="2546212" cy="362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5345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115</Words>
  <Application>Microsoft Office PowerPoint</Application>
  <PresentationFormat>Panorámica</PresentationFormat>
  <Paragraphs>38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Agency FB</vt:lpstr>
      <vt:lpstr>Antipasto Pro </vt:lpstr>
      <vt:lpstr>Arial</vt:lpstr>
      <vt:lpstr>Calibri</vt:lpstr>
      <vt:lpstr>Calibri Light</vt:lpstr>
      <vt:lpstr>Corbel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paty</dc:creator>
  <cp:lastModifiedBy>paty</cp:lastModifiedBy>
  <cp:revision>15</cp:revision>
  <dcterms:created xsi:type="dcterms:W3CDTF">2026-03-10T05:24:29Z</dcterms:created>
  <dcterms:modified xsi:type="dcterms:W3CDTF">2026-03-10T20:20:07Z</dcterms:modified>
</cp:coreProperties>
</file>